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Lst>
  <p:sldSz cx="18288000" cy="10287000"/>
  <p:notesSz cx="6858000" cy="9144000"/>
  <p:embeddedFontLst>
    <p:embeddedFont>
      <p:font typeface="Arimo" charset="1" panose="020B0604020202020204"/>
      <p:regular r:id="rId6"/>
    </p:embeddedFont>
    <p:embeddedFont>
      <p:font typeface="Arimo Bold" charset="1" panose="020B0704020202020204"/>
      <p:regular r:id="rId7"/>
    </p:embeddedFont>
    <p:embeddedFont>
      <p:font typeface="Arimo Italics" charset="1" panose="020B0604020202090204"/>
      <p:regular r:id="rId8"/>
    </p:embeddedFont>
    <p:embeddedFont>
      <p:font typeface="Arimo Bold Italics" charset="1" panose="020B0704020202090204"/>
      <p:regular r:id="rId9"/>
    </p:embeddedFont>
    <p:embeddedFont>
      <p:font typeface="DM Sans" charset="1" panose="00000000000000000000"/>
      <p:regular r:id="rId10"/>
    </p:embeddedFont>
    <p:embeddedFont>
      <p:font typeface="DM Sans Bold" charset="1" panose="00000000000000000000"/>
      <p:regular r:id="rId11"/>
    </p:embeddedFont>
    <p:embeddedFont>
      <p:font typeface="DM Sans Italics" charset="1" panose="00000000000000000000"/>
      <p:regular r:id="rId12"/>
    </p:embeddedFont>
    <p:embeddedFont>
      <p:font typeface="DM Sans Bold Italics" charset="1" panose="0000000000000000000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slides/slide1.xml" Type="http://schemas.openxmlformats.org/officeDocument/2006/relationships/slide"/><Relationship Id="rId15" Target="slides/slide2.xml" Type="http://schemas.openxmlformats.org/officeDocument/2006/relationships/slide"/><Relationship Id="rId16" Target="slides/slide3.xml" Type="http://schemas.openxmlformats.org/officeDocument/2006/relationships/slide"/><Relationship Id="rId17" Target="slides/slide4.xml" Type="http://schemas.openxmlformats.org/officeDocument/2006/relationships/slide"/><Relationship Id="rId18" Target="slides/slide5.xml" Type="http://schemas.openxmlformats.org/officeDocument/2006/relationships/slide"/><Relationship Id="rId19" Target="slides/slide6.xml" Type="http://schemas.openxmlformats.org/officeDocument/2006/relationships/slide"/><Relationship Id="rId2" Target="presProps.xml" Type="http://schemas.openxmlformats.org/officeDocument/2006/relationships/presProps"/><Relationship Id="rId20" Target="slides/slide7.xml" Type="http://schemas.openxmlformats.org/officeDocument/2006/relationships/slide"/><Relationship Id="rId21" Target="slides/slide8.xml" Type="http://schemas.openxmlformats.org/officeDocument/2006/relationships/slide"/><Relationship Id="rId22" Target="slides/slide9.xml" Type="http://schemas.openxmlformats.org/officeDocument/2006/relationships/slide"/><Relationship Id="rId23" Target="slides/slide10.xml" Type="http://schemas.openxmlformats.org/officeDocument/2006/relationships/slide"/><Relationship Id="rId24" Target="slides/slide11.xml" Type="http://schemas.openxmlformats.org/officeDocument/2006/relationships/slide"/><Relationship Id="rId25" Target="slides/slide12.xml" Type="http://schemas.openxmlformats.org/officeDocument/2006/relationships/slide"/><Relationship Id="rId26" Target="slides/slide13.xml" Type="http://schemas.openxmlformats.org/officeDocument/2006/relationship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1.png" Type="http://schemas.openxmlformats.org/officeDocument/2006/relationships/image"/><Relationship Id="rId20" Target="../media/image19.svg" Type="http://schemas.openxmlformats.org/officeDocument/2006/relationships/image"/><Relationship Id="rId21" Target="../media/image20.png" Type="http://schemas.openxmlformats.org/officeDocument/2006/relationships/image"/><Relationship Id="rId22" Target="../media/image21.svg" Type="http://schemas.openxmlformats.org/officeDocument/2006/relationships/image"/><Relationship Id="rId23" Target="../media/image22.png" Type="http://schemas.openxmlformats.org/officeDocument/2006/relationships/image"/><Relationship Id="rId24" Target="../media/image23.svg" Type="http://schemas.openxmlformats.org/officeDocument/2006/relationships/image"/><Relationship Id="rId25" Target="../media/image24.png" Type="http://schemas.openxmlformats.org/officeDocument/2006/relationships/image"/><Relationship Id="rId26" Target="../media/image25.svg" Type="http://schemas.openxmlformats.org/officeDocument/2006/relationships/image"/><Relationship Id="rId27" Target="../media/image26.png" Type="http://schemas.openxmlformats.org/officeDocument/2006/relationships/image"/><Relationship Id="rId28" Target="../media/image27.svg" Type="http://schemas.openxmlformats.org/officeDocument/2006/relationships/image"/><Relationship Id="rId29" Target="../media/image28.png" Type="http://schemas.openxmlformats.org/officeDocument/2006/relationships/image"/><Relationship Id="rId3" Target="../media/image2.png" Type="http://schemas.openxmlformats.org/officeDocument/2006/relationships/image"/><Relationship Id="rId30" Target="../media/image29.sv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11" Target="../media/image20.png" Type="http://schemas.openxmlformats.org/officeDocument/2006/relationships/image"/><Relationship Id="rId12" Target="../media/image21.svg" Type="http://schemas.openxmlformats.org/officeDocument/2006/relationships/image"/><Relationship Id="rId13" Target="../media/image26.png" Type="http://schemas.openxmlformats.org/officeDocument/2006/relationships/image"/><Relationship Id="rId14" Target="../media/image27.svg" Type="http://schemas.openxmlformats.org/officeDocument/2006/relationships/image"/><Relationship Id="rId2" Target="../media/image1.png" Type="http://schemas.openxmlformats.org/officeDocument/2006/relationships/image"/><Relationship Id="rId3" Target="../media/image30.png" Type="http://schemas.openxmlformats.org/officeDocument/2006/relationships/image"/><Relationship Id="rId4" Target="../media/image31.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34.png" Type="http://schemas.openxmlformats.org/officeDocument/2006/relationships/image"/><Relationship Id="rId6" Target="../media/image3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36.png" Type="http://schemas.openxmlformats.org/officeDocument/2006/relationships/image"/><Relationship Id="rId6" Target="../media/image3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11" Target="../media/image16.png" Type="http://schemas.openxmlformats.org/officeDocument/2006/relationships/image"/><Relationship Id="rId12" Target="../media/image17.svg" Type="http://schemas.openxmlformats.org/officeDocument/2006/relationships/image"/><Relationship Id="rId13" Target="../media/image20.png" Type="http://schemas.openxmlformats.org/officeDocument/2006/relationships/image"/><Relationship Id="rId14" Target="../media/image21.svg" Type="http://schemas.openxmlformats.org/officeDocument/2006/relationships/image"/><Relationship Id="rId15" Target="../media/image24.png" Type="http://schemas.openxmlformats.org/officeDocument/2006/relationships/image"/><Relationship Id="rId16" Target="../media/image25.svg" Type="http://schemas.openxmlformats.org/officeDocument/2006/relationships/image"/><Relationship Id="rId17" Target="../media/image28.png" Type="http://schemas.openxmlformats.org/officeDocument/2006/relationships/image"/><Relationship Id="rId18" Target="../media/image29.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13" Target="../media/image14.png" Type="http://schemas.openxmlformats.org/officeDocument/2006/relationships/image"/><Relationship Id="rId14" Target="../media/image15.svg" Type="http://schemas.openxmlformats.org/officeDocument/2006/relationships/image"/><Relationship Id="rId15" Target="../media/image16.png" Type="http://schemas.openxmlformats.org/officeDocument/2006/relationships/image"/><Relationship Id="rId16" Target="../media/image17.svg" Type="http://schemas.openxmlformats.org/officeDocument/2006/relationships/image"/><Relationship Id="rId17" Target="../media/image18.png" Type="http://schemas.openxmlformats.org/officeDocument/2006/relationships/image"/><Relationship Id="rId18" Target="../media/image19.svg" Type="http://schemas.openxmlformats.org/officeDocument/2006/relationships/image"/><Relationship Id="rId19" Target="../media/image20.png" Type="http://schemas.openxmlformats.org/officeDocument/2006/relationships/image"/><Relationship Id="rId2" Target="../media/image1.png" Type="http://schemas.openxmlformats.org/officeDocument/2006/relationships/image"/><Relationship Id="rId20" Target="../media/image21.svg" Type="http://schemas.openxmlformats.org/officeDocument/2006/relationships/image"/><Relationship Id="rId21" Target="../media/image22.png" Type="http://schemas.openxmlformats.org/officeDocument/2006/relationships/image"/><Relationship Id="rId22" Target="../media/image23.svg" Type="http://schemas.openxmlformats.org/officeDocument/2006/relationships/image"/><Relationship Id="rId23" Target="../media/image24.png" Type="http://schemas.openxmlformats.org/officeDocument/2006/relationships/image"/><Relationship Id="rId24" Target="../media/image25.svg" Type="http://schemas.openxmlformats.org/officeDocument/2006/relationships/image"/><Relationship Id="rId25" Target="../media/image26.png" Type="http://schemas.openxmlformats.org/officeDocument/2006/relationships/image"/><Relationship Id="rId26" Target="../media/image27.svg" Type="http://schemas.openxmlformats.org/officeDocument/2006/relationships/image"/><Relationship Id="rId27" Target="../media/image28.png" Type="http://schemas.openxmlformats.org/officeDocument/2006/relationships/image"/><Relationship Id="rId28" Target="../media/image29.svg" Type="http://schemas.openxmlformats.org/officeDocument/2006/relationships/image"/><Relationship Id="rId29" Target="../media/image38.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13" Target="../media/image14.png" Type="http://schemas.openxmlformats.org/officeDocument/2006/relationships/image"/><Relationship Id="rId14" Target="../media/image15.svg" Type="http://schemas.openxmlformats.org/officeDocument/2006/relationships/image"/><Relationship Id="rId15" Target="../media/image16.png" Type="http://schemas.openxmlformats.org/officeDocument/2006/relationships/image"/><Relationship Id="rId16" Target="../media/image17.svg" Type="http://schemas.openxmlformats.org/officeDocument/2006/relationships/image"/><Relationship Id="rId17" Target="../media/image18.png" Type="http://schemas.openxmlformats.org/officeDocument/2006/relationships/image"/><Relationship Id="rId18" Target="../media/image19.svg" Type="http://schemas.openxmlformats.org/officeDocument/2006/relationships/image"/><Relationship Id="rId19" Target="../media/image20.png" Type="http://schemas.openxmlformats.org/officeDocument/2006/relationships/image"/><Relationship Id="rId2" Target="../media/image1.png" Type="http://schemas.openxmlformats.org/officeDocument/2006/relationships/image"/><Relationship Id="rId20" Target="../media/image21.svg" Type="http://schemas.openxmlformats.org/officeDocument/2006/relationships/image"/><Relationship Id="rId21" Target="../media/image22.png" Type="http://schemas.openxmlformats.org/officeDocument/2006/relationships/image"/><Relationship Id="rId22" Target="../media/image23.svg" Type="http://schemas.openxmlformats.org/officeDocument/2006/relationships/image"/><Relationship Id="rId23" Target="../media/image24.png" Type="http://schemas.openxmlformats.org/officeDocument/2006/relationships/image"/><Relationship Id="rId24" Target="../media/image25.svg" Type="http://schemas.openxmlformats.org/officeDocument/2006/relationships/image"/><Relationship Id="rId25" Target="../media/image26.png" Type="http://schemas.openxmlformats.org/officeDocument/2006/relationships/image"/><Relationship Id="rId26" Target="../media/image27.svg" Type="http://schemas.openxmlformats.org/officeDocument/2006/relationships/image"/><Relationship Id="rId27" Target="../media/image28.png" Type="http://schemas.openxmlformats.org/officeDocument/2006/relationships/image"/><Relationship Id="rId28" Target="../media/image29.svg" Type="http://schemas.openxmlformats.org/officeDocument/2006/relationships/image"/><Relationship Id="rId29" Target="../media/image39.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13" Target="../media/image14.png" Type="http://schemas.openxmlformats.org/officeDocument/2006/relationships/image"/><Relationship Id="rId14" Target="../media/image15.svg" Type="http://schemas.openxmlformats.org/officeDocument/2006/relationships/image"/><Relationship Id="rId15" Target="../media/image16.png" Type="http://schemas.openxmlformats.org/officeDocument/2006/relationships/image"/><Relationship Id="rId16" Target="../media/image17.svg" Type="http://schemas.openxmlformats.org/officeDocument/2006/relationships/image"/><Relationship Id="rId17" Target="../media/image18.png" Type="http://schemas.openxmlformats.org/officeDocument/2006/relationships/image"/><Relationship Id="rId18" Target="../media/image19.svg" Type="http://schemas.openxmlformats.org/officeDocument/2006/relationships/image"/><Relationship Id="rId19" Target="../media/image20.png" Type="http://schemas.openxmlformats.org/officeDocument/2006/relationships/image"/><Relationship Id="rId2" Target="../media/image1.png" Type="http://schemas.openxmlformats.org/officeDocument/2006/relationships/image"/><Relationship Id="rId20" Target="../media/image21.svg" Type="http://schemas.openxmlformats.org/officeDocument/2006/relationships/image"/><Relationship Id="rId21" Target="../media/image22.png" Type="http://schemas.openxmlformats.org/officeDocument/2006/relationships/image"/><Relationship Id="rId22" Target="../media/image23.svg" Type="http://schemas.openxmlformats.org/officeDocument/2006/relationships/image"/><Relationship Id="rId23" Target="../media/image24.png" Type="http://schemas.openxmlformats.org/officeDocument/2006/relationships/image"/><Relationship Id="rId24" Target="../media/image25.svg" Type="http://schemas.openxmlformats.org/officeDocument/2006/relationships/image"/><Relationship Id="rId25" Target="../media/image26.png" Type="http://schemas.openxmlformats.org/officeDocument/2006/relationships/image"/><Relationship Id="rId26" Target="../media/image27.svg" Type="http://schemas.openxmlformats.org/officeDocument/2006/relationships/image"/><Relationship Id="rId27" Target="../media/image28.png" Type="http://schemas.openxmlformats.org/officeDocument/2006/relationships/image"/><Relationship Id="rId28" Target="../media/image29.svg" Type="http://schemas.openxmlformats.org/officeDocument/2006/relationships/image"/><Relationship Id="rId29" Target="../media/image40.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13" Target="../media/image14.png" Type="http://schemas.openxmlformats.org/officeDocument/2006/relationships/image"/><Relationship Id="rId14" Target="../media/image15.svg" Type="http://schemas.openxmlformats.org/officeDocument/2006/relationships/image"/><Relationship Id="rId15" Target="../media/image16.png" Type="http://schemas.openxmlformats.org/officeDocument/2006/relationships/image"/><Relationship Id="rId16" Target="../media/image17.svg" Type="http://schemas.openxmlformats.org/officeDocument/2006/relationships/image"/><Relationship Id="rId17" Target="../media/image18.png" Type="http://schemas.openxmlformats.org/officeDocument/2006/relationships/image"/><Relationship Id="rId18" Target="../media/image19.svg" Type="http://schemas.openxmlformats.org/officeDocument/2006/relationships/image"/><Relationship Id="rId19" Target="../media/image20.png" Type="http://schemas.openxmlformats.org/officeDocument/2006/relationships/image"/><Relationship Id="rId2" Target="../media/image1.png" Type="http://schemas.openxmlformats.org/officeDocument/2006/relationships/image"/><Relationship Id="rId20" Target="../media/image21.svg" Type="http://schemas.openxmlformats.org/officeDocument/2006/relationships/image"/><Relationship Id="rId21" Target="../media/image22.png" Type="http://schemas.openxmlformats.org/officeDocument/2006/relationships/image"/><Relationship Id="rId22" Target="../media/image23.svg" Type="http://schemas.openxmlformats.org/officeDocument/2006/relationships/image"/><Relationship Id="rId23" Target="../media/image24.png" Type="http://schemas.openxmlformats.org/officeDocument/2006/relationships/image"/><Relationship Id="rId24" Target="../media/image25.svg" Type="http://schemas.openxmlformats.org/officeDocument/2006/relationships/image"/><Relationship Id="rId25" Target="../media/image26.png" Type="http://schemas.openxmlformats.org/officeDocument/2006/relationships/image"/><Relationship Id="rId26" Target="../media/image27.svg" Type="http://schemas.openxmlformats.org/officeDocument/2006/relationships/image"/><Relationship Id="rId27" Target="../media/image28.png" Type="http://schemas.openxmlformats.org/officeDocument/2006/relationships/image"/><Relationship Id="rId28" Target="../media/image29.svg" Type="http://schemas.openxmlformats.org/officeDocument/2006/relationships/image"/><Relationship Id="rId29" Target="../media/image4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13" Target="../media/image14.png" Type="http://schemas.openxmlformats.org/officeDocument/2006/relationships/image"/><Relationship Id="rId14" Target="../media/image15.svg" Type="http://schemas.openxmlformats.org/officeDocument/2006/relationships/image"/><Relationship Id="rId15" Target="../media/image16.png" Type="http://schemas.openxmlformats.org/officeDocument/2006/relationships/image"/><Relationship Id="rId16" Target="../media/image17.svg" Type="http://schemas.openxmlformats.org/officeDocument/2006/relationships/image"/><Relationship Id="rId17" Target="../media/image18.png" Type="http://schemas.openxmlformats.org/officeDocument/2006/relationships/image"/><Relationship Id="rId18" Target="../media/image19.svg" Type="http://schemas.openxmlformats.org/officeDocument/2006/relationships/image"/><Relationship Id="rId19" Target="../media/image20.png" Type="http://schemas.openxmlformats.org/officeDocument/2006/relationships/image"/><Relationship Id="rId2" Target="../media/image1.png" Type="http://schemas.openxmlformats.org/officeDocument/2006/relationships/image"/><Relationship Id="rId20" Target="../media/image21.svg" Type="http://schemas.openxmlformats.org/officeDocument/2006/relationships/image"/><Relationship Id="rId21" Target="../media/image22.png" Type="http://schemas.openxmlformats.org/officeDocument/2006/relationships/image"/><Relationship Id="rId22" Target="../media/image23.svg" Type="http://schemas.openxmlformats.org/officeDocument/2006/relationships/image"/><Relationship Id="rId23" Target="../media/image24.png" Type="http://schemas.openxmlformats.org/officeDocument/2006/relationships/image"/><Relationship Id="rId24" Target="../media/image25.svg" Type="http://schemas.openxmlformats.org/officeDocument/2006/relationships/image"/><Relationship Id="rId25" Target="../media/image26.png" Type="http://schemas.openxmlformats.org/officeDocument/2006/relationships/image"/><Relationship Id="rId26" Target="../media/image27.svg" Type="http://schemas.openxmlformats.org/officeDocument/2006/relationships/image"/><Relationship Id="rId27" Target="../media/image28.png" Type="http://schemas.openxmlformats.org/officeDocument/2006/relationships/image"/><Relationship Id="rId28" Target="../media/image29.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13" Target="../media/image14.png" Type="http://schemas.openxmlformats.org/officeDocument/2006/relationships/image"/><Relationship Id="rId14" Target="../media/image15.svg" Type="http://schemas.openxmlformats.org/officeDocument/2006/relationships/image"/><Relationship Id="rId15" Target="../media/image16.png" Type="http://schemas.openxmlformats.org/officeDocument/2006/relationships/image"/><Relationship Id="rId16" Target="../media/image17.svg" Type="http://schemas.openxmlformats.org/officeDocument/2006/relationships/image"/><Relationship Id="rId17" Target="../media/image18.png" Type="http://schemas.openxmlformats.org/officeDocument/2006/relationships/image"/><Relationship Id="rId18" Target="../media/image19.svg" Type="http://schemas.openxmlformats.org/officeDocument/2006/relationships/image"/><Relationship Id="rId19" Target="../media/image20.png" Type="http://schemas.openxmlformats.org/officeDocument/2006/relationships/image"/><Relationship Id="rId2" Target="../media/image1.png" Type="http://schemas.openxmlformats.org/officeDocument/2006/relationships/image"/><Relationship Id="rId20" Target="../media/image21.svg" Type="http://schemas.openxmlformats.org/officeDocument/2006/relationships/image"/><Relationship Id="rId21" Target="../media/image22.png" Type="http://schemas.openxmlformats.org/officeDocument/2006/relationships/image"/><Relationship Id="rId22" Target="../media/image23.svg" Type="http://schemas.openxmlformats.org/officeDocument/2006/relationships/image"/><Relationship Id="rId23" Target="../media/image24.png" Type="http://schemas.openxmlformats.org/officeDocument/2006/relationships/image"/><Relationship Id="rId24" Target="../media/image25.svg" Type="http://schemas.openxmlformats.org/officeDocument/2006/relationships/image"/><Relationship Id="rId25" Target="../media/image26.png" Type="http://schemas.openxmlformats.org/officeDocument/2006/relationships/image"/><Relationship Id="rId26" Target="../media/image27.svg" Type="http://schemas.openxmlformats.org/officeDocument/2006/relationships/image"/><Relationship Id="rId27" Target="../media/image28.png" Type="http://schemas.openxmlformats.org/officeDocument/2006/relationships/image"/><Relationship Id="rId28" Target="../media/image29.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236705" y="6409875"/>
            <a:ext cx="724985" cy="920616"/>
          </a:xfrm>
          <a:custGeom>
            <a:avLst/>
            <a:gdLst/>
            <a:ahLst/>
            <a:cxnLst/>
            <a:rect r="r" b="b" t="t" l="l"/>
            <a:pathLst>
              <a:path h="920616" w="724985">
                <a:moveTo>
                  <a:pt x="0" y="0"/>
                </a:moveTo>
                <a:lnTo>
                  <a:pt x="724986" y="0"/>
                </a:lnTo>
                <a:lnTo>
                  <a:pt x="724986" y="920616"/>
                </a:lnTo>
                <a:lnTo>
                  <a:pt x="0" y="9206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7" id="7"/>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9" id="9"/>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0" id="10"/>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1" id="11"/>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12" id="12"/>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13" id="13"/>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14" id="14"/>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a:ln cap="sq">
            <a:noFill/>
            <a:prstDash val="solid"/>
            <a:miter/>
          </a:ln>
        </p:spPr>
      </p:sp>
      <p:sp>
        <p:nvSpPr>
          <p:cNvPr name="Freeform 15" id="15"/>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a:ln cap="sq">
            <a:noFill/>
            <a:prstDash val="solid"/>
            <a:miter/>
          </a:ln>
        </p:spPr>
      </p:sp>
      <p:sp>
        <p:nvSpPr>
          <p:cNvPr name="Freeform 16" id="16"/>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a:ln cap="sq">
            <a:noFill/>
            <a:prstDash val="solid"/>
            <a:miter/>
          </a:ln>
        </p:spPr>
      </p:sp>
      <p:sp>
        <p:nvSpPr>
          <p:cNvPr name="TextBox 17" id="17"/>
          <p:cNvSpPr txBox="true"/>
          <p:nvPr/>
        </p:nvSpPr>
        <p:spPr>
          <a:xfrm rot="0">
            <a:off x="3864059" y="1446780"/>
            <a:ext cx="10910396" cy="3200970"/>
          </a:xfrm>
          <a:prstGeom prst="rect">
            <a:avLst/>
          </a:prstGeom>
        </p:spPr>
        <p:txBody>
          <a:bodyPr anchor="t" rtlCol="false" tIns="0" lIns="0" bIns="0" rIns="0">
            <a:spAutoFit/>
          </a:bodyPr>
          <a:lstStyle/>
          <a:p>
            <a:pPr algn="ctr">
              <a:lnSpc>
                <a:spcPts val="12218"/>
              </a:lnSpc>
            </a:pPr>
            <a:r>
              <a:rPr lang="en-US" sz="12998">
                <a:solidFill>
                  <a:srgbClr val="000000"/>
                </a:solidFill>
                <a:latin typeface="DM Sans Bold"/>
              </a:rPr>
              <a:t>WEB DESIGNING</a:t>
            </a:r>
          </a:p>
        </p:txBody>
      </p:sp>
      <p:sp>
        <p:nvSpPr>
          <p:cNvPr name="TextBox 18" id="18"/>
          <p:cNvSpPr txBox="true"/>
          <p:nvPr/>
        </p:nvSpPr>
        <p:spPr>
          <a:xfrm rot="0">
            <a:off x="4225792" y="5229225"/>
            <a:ext cx="9861272" cy="2787826"/>
          </a:xfrm>
          <a:prstGeom prst="rect">
            <a:avLst/>
          </a:prstGeom>
        </p:spPr>
        <p:txBody>
          <a:bodyPr anchor="t" rtlCol="false" tIns="0" lIns="0" bIns="0" rIns="0">
            <a:spAutoFit/>
          </a:bodyPr>
          <a:lstStyle/>
          <a:p>
            <a:pPr algn="ctr">
              <a:lnSpc>
                <a:spcPts val="4381"/>
              </a:lnSpc>
            </a:pPr>
            <a:r>
              <a:rPr lang="en-US" sz="4381" spc="-87">
                <a:solidFill>
                  <a:srgbClr val="000000"/>
                </a:solidFill>
                <a:latin typeface="DM Sans Bold"/>
              </a:rPr>
              <a:t>Presented by NO IDEA</a:t>
            </a:r>
          </a:p>
          <a:p>
            <a:pPr algn="ctr">
              <a:lnSpc>
                <a:spcPts val="4381"/>
              </a:lnSpc>
            </a:pPr>
            <a:r>
              <a:rPr lang="en-US" sz="4381" spc="-87">
                <a:solidFill>
                  <a:srgbClr val="000000"/>
                </a:solidFill>
                <a:latin typeface="DM Sans Bold"/>
              </a:rPr>
              <a:t>Group Member </a:t>
            </a:r>
          </a:p>
          <a:p>
            <a:pPr algn="ctr">
              <a:lnSpc>
                <a:spcPts val="4381"/>
              </a:lnSpc>
            </a:pPr>
            <a:r>
              <a:rPr lang="en-US" sz="4381" spc="-87">
                <a:solidFill>
                  <a:srgbClr val="000000"/>
                </a:solidFill>
                <a:latin typeface="DM Sans Bold"/>
              </a:rPr>
              <a:t>Chong Meng Wei (SCSJ2300715)</a:t>
            </a:r>
          </a:p>
          <a:p>
            <a:pPr algn="ctr">
              <a:lnSpc>
                <a:spcPts val="4381"/>
              </a:lnSpc>
            </a:pPr>
            <a:r>
              <a:rPr lang="en-US" sz="4381" spc="-87">
                <a:solidFill>
                  <a:srgbClr val="000000"/>
                </a:solidFill>
                <a:latin typeface="DM Sans Bold"/>
              </a:rPr>
              <a:t>Chen Owen Wei (SCSJ2300675)</a:t>
            </a:r>
          </a:p>
          <a:p>
            <a:pPr algn="ctr">
              <a:lnSpc>
                <a:spcPts val="4381"/>
              </a:lnSpc>
            </a:pPr>
            <a:r>
              <a:rPr lang="en-US" sz="4381" spc="-87">
                <a:solidFill>
                  <a:srgbClr val="000000"/>
                </a:solidFill>
                <a:latin typeface="DM Sans Bold"/>
              </a:rPr>
              <a:t>Ryan Gridron Wong (SCSJ2300654)</a:t>
            </a:r>
          </a:p>
        </p:txBody>
      </p:sp>
      <p:sp>
        <p:nvSpPr>
          <p:cNvPr name="Freeform 19" id="19"/>
          <p:cNvSpPr/>
          <p:nvPr/>
        </p:nvSpPr>
        <p:spPr>
          <a:xfrm flipH="false" flipV="false" rot="0">
            <a:off x="4737926" y="2576219"/>
            <a:ext cx="724985" cy="920616"/>
          </a:xfrm>
          <a:custGeom>
            <a:avLst/>
            <a:gdLst/>
            <a:ahLst/>
            <a:cxnLst/>
            <a:rect r="r" b="b" t="t" l="l"/>
            <a:pathLst>
              <a:path h="920616" w="724985">
                <a:moveTo>
                  <a:pt x="0" y="0"/>
                </a:moveTo>
                <a:lnTo>
                  <a:pt x="724985" y="0"/>
                </a:lnTo>
                <a:lnTo>
                  <a:pt x="724985" y="920616"/>
                </a:lnTo>
                <a:lnTo>
                  <a:pt x="0" y="9206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10994934" y="2091045"/>
            <a:ext cx="6264366" cy="6104909"/>
          </a:xfrm>
          <a:custGeom>
            <a:avLst/>
            <a:gdLst/>
            <a:ahLst/>
            <a:cxnLst/>
            <a:rect r="r" b="b" t="t" l="l"/>
            <a:pathLst>
              <a:path h="6104909" w="6264366">
                <a:moveTo>
                  <a:pt x="0" y="0"/>
                </a:moveTo>
                <a:lnTo>
                  <a:pt x="6264366" y="0"/>
                </a:lnTo>
                <a:lnTo>
                  <a:pt x="6264366" y="6104910"/>
                </a:lnTo>
                <a:lnTo>
                  <a:pt x="0" y="61049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357288" y="1219200"/>
            <a:ext cx="8956222" cy="1177290"/>
          </a:xfrm>
          <a:prstGeom prst="rect">
            <a:avLst/>
          </a:prstGeom>
        </p:spPr>
        <p:txBody>
          <a:bodyPr anchor="t" rtlCol="false" tIns="0" lIns="0" bIns="0" rIns="0">
            <a:spAutoFit/>
          </a:bodyPr>
          <a:lstStyle/>
          <a:p>
            <a:pPr>
              <a:lnSpc>
                <a:spcPts val="8730"/>
              </a:lnSpc>
            </a:pPr>
            <a:r>
              <a:rPr lang="en-US" sz="9000">
                <a:solidFill>
                  <a:srgbClr val="000000"/>
                </a:solidFill>
                <a:latin typeface="DM Sans Bold"/>
              </a:rPr>
              <a:t>INTRODUCTION</a:t>
            </a:r>
          </a:p>
        </p:txBody>
      </p:sp>
      <p:sp>
        <p:nvSpPr>
          <p:cNvPr name="TextBox 5" id="5"/>
          <p:cNvSpPr txBox="true"/>
          <p:nvPr/>
        </p:nvSpPr>
        <p:spPr>
          <a:xfrm rot="0">
            <a:off x="1357288" y="2934012"/>
            <a:ext cx="8642767" cy="5440681"/>
          </a:xfrm>
          <a:prstGeom prst="rect">
            <a:avLst/>
          </a:prstGeom>
        </p:spPr>
        <p:txBody>
          <a:bodyPr anchor="t" rtlCol="false" tIns="0" lIns="0" bIns="0" rIns="0">
            <a:spAutoFit/>
          </a:bodyPr>
          <a:lstStyle/>
          <a:p>
            <a:pPr>
              <a:lnSpc>
                <a:spcPts val="3914"/>
              </a:lnSpc>
            </a:pPr>
            <a:r>
              <a:rPr lang="en-US" sz="2899" spc="173">
                <a:solidFill>
                  <a:srgbClr val="000000"/>
                </a:solidFill>
                <a:latin typeface="DM Sans"/>
              </a:rPr>
              <a:t>This web development aims to create a user-friendly web-based food delivery platform focused on cafes, allowing users to easily order food, track their deliveries, and give feedback.</a:t>
            </a:r>
          </a:p>
          <a:p>
            <a:pPr>
              <a:lnSpc>
                <a:spcPts val="3914"/>
              </a:lnSpc>
            </a:pPr>
            <a:r>
              <a:rPr lang="en-US" sz="2899" spc="173">
                <a:solidFill>
                  <a:srgbClr val="000000"/>
                </a:solidFill>
                <a:latin typeface="DM Sans"/>
              </a:rPr>
              <a:t> </a:t>
            </a:r>
          </a:p>
          <a:p>
            <a:pPr>
              <a:lnSpc>
                <a:spcPts val="3914"/>
              </a:lnSpc>
            </a:pPr>
            <a:r>
              <a:rPr lang="en-US" sz="2899" spc="173">
                <a:solidFill>
                  <a:srgbClr val="000000"/>
                </a:solidFill>
                <a:latin typeface="DM Sans"/>
              </a:rPr>
              <a:t>It emphasizes accessibility, usability, convenience, and reliability. </a:t>
            </a:r>
          </a:p>
          <a:p>
            <a:pPr>
              <a:lnSpc>
                <a:spcPts val="3914"/>
              </a:lnSpc>
            </a:pPr>
          </a:p>
          <a:p>
            <a:pPr>
              <a:lnSpc>
                <a:spcPts val="3914"/>
              </a:lnSpc>
            </a:pPr>
            <a:r>
              <a:rPr lang="en-US" sz="2899" spc="173">
                <a:solidFill>
                  <a:srgbClr val="000000"/>
                </a:solidFill>
                <a:latin typeface="DM Sans"/>
              </a:rPr>
              <a:t>developed using HTML, CSS, and JavaScript. </a:t>
            </a:r>
          </a:p>
          <a:p>
            <a:pPr marL="0" indent="0" lvl="0">
              <a:lnSpc>
                <a:spcPts val="3914"/>
              </a:lnSpc>
              <a:spcBef>
                <a:spcPct val="0"/>
              </a:spcBef>
            </a:pPr>
          </a:p>
        </p:txBody>
      </p:sp>
      <p:sp>
        <p:nvSpPr>
          <p:cNvPr name="Freeform 6" id="6"/>
          <p:cNvSpPr/>
          <p:nvPr/>
        </p:nvSpPr>
        <p:spPr>
          <a:xfrm flipH="false" flipV="false" rot="0">
            <a:off x="15353489"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7" id="7"/>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8" id="8"/>
          <p:cNvSpPr/>
          <p:nvPr/>
        </p:nvSpPr>
        <p:spPr>
          <a:xfrm flipH="false" flipV="false" rot="0">
            <a:off x="9144000"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9" id="9"/>
          <p:cNvSpPr/>
          <p:nvPr/>
        </p:nvSpPr>
        <p:spPr>
          <a:xfrm flipH="false" flipV="false" rot="0">
            <a:off x="5003948" y="-1890601"/>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10" id="10"/>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TextBox 3" id="3"/>
          <p:cNvSpPr txBox="true"/>
          <p:nvPr/>
        </p:nvSpPr>
        <p:spPr>
          <a:xfrm rot="0">
            <a:off x="4960522" y="1219200"/>
            <a:ext cx="8366955" cy="1177290"/>
          </a:xfrm>
          <a:prstGeom prst="rect">
            <a:avLst/>
          </a:prstGeom>
        </p:spPr>
        <p:txBody>
          <a:bodyPr anchor="t" rtlCol="false" tIns="0" lIns="0" bIns="0" rIns="0">
            <a:spAutoFit/>
          </a:bodyPr>
          <a:lstStyle/>
          <a:p>
            <a:pPr>
              <a:lnSpc>
                <a:spcPts val="8730"/>
              </a:lnSpc>
            </a:pPr>
            <a:r>
              <a:rPr lang="en-US" sz="9000">
                <a:solidFill>
                  <a:srgbClr val="000000"/>
                </a:solidFill>
                <a:latin typeface="DM Sans Bold"/>
              </a:rPr>
              <a:t>DEVELOPMENT</a:t>
            </a:r>
          </a:p>
        </p:txBody>
      </p:sp>
      <p:sp>
        <p:nvSpPr>
          <p:cNvPr name="TextBox 4" id="4"/>
          <p:cNvSpPr txBox="true"/>
          <p:nvPr/>
        </p:nvSpPr>
        <p:spPr>
          <a:xfrm rot="0">
            <a:off x="2550945" y="3619208"/>
            <a:ext cx="13186111" cy="3393758"/>
          </a:xfrm>
          <a:prstGeom prst="rect">
            <a:avLst/>
          </a:prstGeom>
        </p:spPr>
        <p:txBody>
          <a:bodyPr anchor="t" rtlCol="false" tIns="0" lIns="0" bIns="0" rIns="0">
            <a:spAutoFit/>
          </a:bodyPr>
          <a:lstStyle/>
          <a:p>
            <a:pPr algn="just">
              <a:lnSpc>
                <a:spcPts val="4859"/>
              </a:lnSpc>
            </a:pPr>
            <a:r>
              <a:rPr lang="en-US" sz="3599" spc="215">
                <a:solidFill>
                  <a:srgbClr val="000000"/>
                </a:solidFill>
                <a:latin typeface="DM Sans"/>
              </a:rPr>
              <a:t>This delivery app has utilised Hypertext Markup language, Cascading Style Sheets and JavaScript. The reason for the chosen program is for the program’s functionality and effectiveness. The programs were able to showcase the desired design for the website.</a:t>
            </a:r>
          </a:p>
          <a:p>
            <a:pPr algn="just" marL="0" indent="0" lvl="0">
              <a:lnSpc>
                <a:spcPts val="2834"/>
              </a:lnSpc>
              <a:spcBef>
                <a:spcPct val="0"/>
              </a:spcBef>
            </a:pPr>
          </a:p>
        </p:txBody>
      </p:sp>
      <p:sp>
        <p:nvSpPr>
          <p:cNvPr name="Freeform 5" id="5"/>
          <p:cNvSpPr/>
          <p:nvPr/>
        </p:nvSpPr>
        <p:spPr>
          <a:xfrm flipH="false" flipV="false" rot="0">
            <a:off x="-848571" y="8919661"/>
            <a:ext cx="3870946" cy="950141"/>
          </a:xfrm>
          <a:custGeom>
            <a:avLst/>
            <a:gdLst/>
            <a:ahLst/>
            <a:cxnLst/>
            <a:rect r="r" b="b" t="t" l="l"/>
            <a:pathLst>
              <a:path h="950141" w="3870946">
                <a:moveTo>
                  <a:pt x="0" y="0"/>
                </a:moveTo>
                <a:lnTo>
                  <a:pt x="3870946" y="0"/>
                </a:lnTo>
                <a:lnTo>
                  <a:pt x="3870946" y="950141"/>
                </a:lnTo>
                <a:lnTo>
                  <a:pt x="0" y="9501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4472906" y="-2364815"/>
            <a:ext cx="4980952" cy="3731186"/>
          </a:xfrm>
          <a:custGeom>
            <a:avLst/>
            <a:gdLst/>
            <a:ahLst/>
            <a:cxnLst/>
            <a:rect r="r" b="b" t="t" l="l"/>
            <a:pathLst>
              <a:path h="3731186" w="4980952">
                <a:moveTo>
                  <a:pt x="0" y="0"/>
                </a:moveTo>
                <a:lnTo>
                  <a:pt x="4980951" y="0"/>
                </a:lnTo>
                <a:lnTo>
                  <a:pt x="4980951" y="3731186"/>
                </a:lnTo>
                <a:lnTo>
                  <a:pt x="0" y="37311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7" id="7"/>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8" id="8"/>
          <p:cNvSpPr/>
          <p:nvPr/>
        </p:nvSpPr>
        <p:spPr>
          <a:xfrm flipH="false" flipV="false" rot="0">
            <a:off x="-848571" y="-744412"/>
            <a:ext cx="2597326" cy="2796583"/>
          </a:xfrm>
          <a:custGeom>
            <a:avLst/>
            <a:gdLst/>
            <a:ahLst/>
            <a:cxnLst/>
            <a:rect r="r" b="b" t="t" l="l"/>
            <a:pathLst>
              <a:path h="2796583" w="2597326">
                <a:moveTo>
                  <a:pt x="0" y="0"/>
                </a:moveTo>
                <a:lnTo>
                  <a:pt x="2597327" y="0"/>
                </a:lnTo>
                <a:lnTo>
                  <a:pt x="2597327" y="2796583"/>
                </a:lnTo>
                <a:lnTo>
                  <a:pt x="0" y="279658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10078075" y="1267971"/>
            <a:ext cx="4208573" cy="4247184"/>
          </a:xfrm>
          <a:custGeom>
            <a:avLst/>
            <a:gdLst/>
            <a:ahLst/>
            <a:cxnLst/>
            <a:rect r="r" b="b" t="t" l="l"/>
            <a:pathLst>
              <a:path h="4247184" w="4208573">
                <a:moveTo>
                  <a:pt x="0" y="0"/>
                </a:moveTo>
                <a:lnTo>
                  <a:pt x="4208574" y="0"/>
                </a:lnTo>
                <a:lnTo>
                  <a:pt x="4208574" y="4247184"/>
                </a:lnTo>
                <a:lnTo>
                  <a:pt x="0" y="42471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10857087" y="1879538"/>
            <a:ext cx="5956731" cy="6527925"/>
          </a:xfrm>
          <a:custGeom>
            <a:avLst/>
            <a:gdLst/>
            <a:ahLst/>
            <a:cxnLst/>
            <a:rect r="r" b="b" t="t" l="l"/>
            <a:pathLst>
              <a:path h="6527925" w="5956731">
                <a:moveTo>
                  <a:pt x="0" y="0"/>
                </a:moveTo>
                <a:lnTo>
                  <a:pt x="5956731" y="0"/>
                </a:lnTo>
                <a:lnTo>
                  <a:pt x="5956731" y="6527924"/>
                </a:lnTo>
                <a:lnTo>
                  <a:pt x="0" y="65279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504950" y="2898168"/>
            <a:ext cx="8092094" cy="1177290"/>
          </a:xfrm>
          <a:prstGeom prst="rect">
            <a:avLst/>
          </a:prstGeom>
        </p:spPr>
        <p:txBody>
          <a:bodyPr anchor="t" rtlCol="false" tIns="0" lIns="0" bIns="0" rIns="0">
            <a:spAutoFit/>
          </a:bodyPr>
          <a:lstStyle/>
          <a:p>
            <a:pPr algn="ctr">
              <a:lnSpc>
                <a:spcPts val="8730"/>
              </a:lnSpc>
            </a:pPr>
            <a:r>
              <a:rPr lang="en-US" sz="9000">
                <a:solidFill>
                  <a:srgbClr val="000000"/>
                </a:solidFill>
                <a:latin typeface="DM Sans Bold"/>
              </a:rPr>
              <a:t>HTML</a:t>
            </a:r>
          </a:p>
        </p:txBody>
      </p:sp>
      <p:sp>
        <p:nvSpPr>
          <p:cNvPr name="TextBox 6" id="6"/>
          <p:cNvSpPr txBox="true"/>
          <p:nvPr/>
        </p:nvSpPr>
        <p:spPr>
          <a:xfrm rot="0">
            <a:off x="1436429" y="4378387"/>
            <a:ext cx="8160615" cy="3524251"/>
          </a:xfrm>
          <a:prstGeom prst="rect">
            <a:avLst/>
          </a:prstGeom>
        </p:spPr>
        <p:txBody>
          <a:bodyPr anchor="t" rtlCol="false" tIns="0" lIns="0" bIns="0" rIns="0">
            <a:spAutoFit/>
          </a:bodyPr>
          <a:lstStyle/>
          <a:p>
            <a:pPr algn="just" marL="0" indent="0" lvl="0">
              <a:lnSpc>
                <a:spcPts val="4049"/>
              </a:lnSpc>
              <a:spcBef>
                <a:spcPct val="0"/>
              </a:spcBef>
            </a:pPr>
            <a:r>
              <a:rPr lang="en-US" sz="2999" spc="179">
                <a:solidFill>
                  <a:srgbClr val="000000"/>
                </a:solidFill>
                <a:latin typeface="DM Sans"/>
              </a:rPr>
              <a:t>HTML is a coding language that is commonly used to create the layout and content of web pages. In Cafe Dash, HTML is used to define how each page on the website is structured, including things like headings, paragraphs, lists, links, and other elements.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5282649">
            <a:off x="753178" y="3852356"/>
            <a:ext cx="7567145" cy="2582288"/>
          </a:xfrm>
          <a:custGeom>
            <a:avLst/>
            <a:gdLst/>
            <a:ahLst/>
            <a:cxnLst/>
            <a:rect r="r" b="b" t="t" l="l"/>
            <a:pathLst>
              <a:path h="2582288" w="7567145">
                <a:moveTo>
                  <a:pt x="0" y="0"/>
                </a:moveTo>
                <a:lnTo>
                  <a:pt x="7567144" y="0"/>
                </a:lnTo>
                <a:lnTo>
                  <a:pt x="7567144" y="2582288"/>
                </a:lnTo>
                <a:lnTo>
                  <a:pt x="0" y="25822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1780231" y="2037564"/>
            <a:ext cx="5513037" cy="6211873"/>
          </a:xfrm>
          <a:custGeom>
            <a:avLst/>
            <a:gdLst/>
            <a:ahLst/>
            <a:cxnLst/>
            <a:rect r="r" b="b" t="t" l="l"/>
            <a:pathLst>
              <a:path h="6211873" w="5513037">
                <a:moveTo>
                  <a:pt x="0" y="0"/>
                </a:moveTo>
                <a:lnTo>
                  <a:pt x="5513038" y="0"/>
                </a:lnTo>
                <a:lnTo>
                  <a:pt x="5513038" y="6211872"/>
                </a:lnTo>
                <a:lnTo>
                  <a:pt x="0" y="62118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8659015" y="2898168"/>
            <a:ext cx="7848753" cy="1177290"/>
          </a:xfrm>
          <a:prstGeom prst="rect">
            <a:avLst/>
          </a:prstGeom>
        </p:spPr>
        <p:txBody>
          <a:bodyPr anchor="t" rtlCol="false" tIns="0" lIns="0" bIns="0" rIns="0">
            <a:spAutoFit/>
          </a:bodyPr>
          <a:lstStyle/>
          <a:p>
            <a:pPr algn="ctr">
              <a:lnSpc>
                <a:spcPts val="8730"/>
              </a:lnSpc>
            </a:pPr>
            <a:r>
              <a:rPr lang="en-US" sz="9000">
                <a:solidFill>
                  <a:srgbClr val="000000"/>
                </a:solidFill>
                <a:latin typeface="DM Sans Bold"/>
              </a:rPr>
              <a:t>CSS</a:t>
            </a:r>
          </a:p>
        </p:txBody>
      </p:sp>
      <p:sp>
        <p:nvSpPr>
          <p:cNvPr name="TextBox 6" id="6"/>
          <p:cNvSpPr txBox="true"/>
          <p:nvPr/>
        </p:nvSpPr>
        <p:spPr>
          <a:xfrm rot="0">
            <a:off x="8659015" y="4788507"/>
            <a:ext cx="7707571" cy="4029076"/>
          </a:xfrm>
          <a:prstGeom prst="rect">
            <a:avLst/>
          </a:prstGeom>
        </p:spPr>
        <p:txBody>
          <a:bodyPr anchor="t" rtlCol="false" tIns="0" lIns="0" bIns="0" rIns="0">
            <a:spAutoFit/>
          </a:bodyPr>
          <a:lstStyle/>
          <a:p>
            <a:pPr algn="just" marL="0" indent="0" lvl="0">
              <a:lnSpc>
                <a:spcPts val="4049"/>
              </a:lnSpc>
              <a:spcBef>
                <a:spcPct val="0"/>
              </a:spcBef>
            </a:pPr>
            <a:r>
              <a:rPr lang="en-US" sz="2999" spc="179">
                <a:solidFill>
                  <a:srgbClr val="000000"/>
                </a:solidFill>
                <a:latin typeface="DM Sans"/>
              </a:rPr>
              <a:t>CSS, or Cascading Style Sheets, is a coding language that is used to control the design and layout of HTML elements on a webpage. It allows developers to customize the appearance of a website by specifying details such as colors, fonts, spacing, and layout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10819907" y="1950456"/>
            <a:ext cx="4208573" cy="4247184"/>
          </a:xfrm>
          <a:custGeom>
            <a:avLst/>
            <a:gdLst/>
            <a:ahLst/>
            <a:cxnLst/>
            <a:rect r="r" b="b" t="t" l="l"/>
            <a:pathLst>
              <a:path h="4247184" w="4208573">
                <a:moveTo>
                  <a:pt x="0" y="0"/>
                </a:moveTo>
                <a:lnTo>
                  <a:pt x="4208573" y="0"/>
                </a:lnTo>
                <a:lnTo>
                  <a:pt x="4208573" y="4247184"/>
                </a:lnTo>
                <a:lnTo>
                  <a:pt x="0" y="42471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10256115" y="2639048"/>
            <a:ext cx="7181225" cy="5008904"/>
          </a:xfrm>
          <a:custGeom>
            <a:avLst/>
            <a:gdLst/>
            <a:ahLst/>
            <a:cxnLst/>
            <a:rect r="r" b="b" t="t" l="l"/>
            <a:pathLst>
              <a:path h="5008904" w="7181225">
                <a:moveTo>
                  <a:pt x="0" y="0"/>
                </a:moveTo>
                <a:lnTo>
                  <a:pt x="7181225" y="0"/>
                </a:lnTo>
                <a:lnTo>
                  <a:pt x="7181225" y="5008904"/>
                </a:lnTo>
                <a:lnTo>
                  <a:pt x="0" y="50089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504950" y="2859405"/>
            <a:ext cx="8751165" cy="1177290"/>
          </a:xfrm>
          <a:prstGeom prst="rect">
            <a:avLst/>
          </a:prstGeom>
        </p:spPr>
        <p:txBody>
          <a:bodyPr anchor="t" rtlCol="false" tIns="0" lIns="0" bIns="0" rIns="0">
            <a:spAutoFit/>
          </a:bodyPr>
          <a:lstStyle/>
          <a:p>
            <a:pPr algn="ctr">
              <a:lnSpc>
                <a:spcPts val="8730"/>
              </a:lnSpc>
            </a:pPr>
            <a:r>
              <a:rPr lang="en-US" sz="9000">
                <a:solidFill>
                  <a:srgbClr val="000000"/>
                </a:solidFill>
                <a:latin typeface="DM Sans Bold"/>
              </a:rPr>
              <a:t>JAVASCRIPT</a:t>
            </a:r>
          </a:p>
        </p:txBody>
      </p:sp>
      <p:sp>
        <p:nvSpPr>
          <p:cNvPr name="TextBox 6" id="6"/>
          <p:cNvSpPr txBox="true"/>
          <p:nvPr/>
        </p:nvSpPr>
        <p:spPr>
          <a:xfrm rot="0">
            <a:off x="1436429" y="5095875"/>
            <a:ext cx="7707571" cy="4533901"/>
          </a:xfrm>
          <a:prstGeom prst="rect">
            <a:avLst/>
          </a:prstGeom>
        </p:spPr>
        <p:txBody>
          <a:bodyPr anchor="t" rtlCol="false" tIns="0" lIns="0" bIns="0" rIns="0">
            <a:spAutoFit/>
          </a:bodyPr>
          <a:lstStyle/>
          <a:p>
            <a:pPr algn="just">
              <a:lnSpc>
                <a:spcPts val="4049"/>
              </a:lnSpc>
            </a:pPr>
            <a:r>
              <a:rPr lang="en-US" sz="2999" spc="179">
                <a:solidFill>
                  <a:srgbClr val="000000"/>
                </a:solidFill>
                <a:latin typeface="DM Sans"/>
              </a:rPr>
              <a:t>JavaScript is a coding language that is utilized to introduce interactivity and dynamic behavior to websites.</a:t>
            </a:r>
          </a:p>
          <a:p>
            <a:pPr algn="just">
              <a:lnSpc>
                <a:spcPts val="4049"/>
              </a:lnSpc>
            </a:pPr>
            <a:r>
              <a:rPr lang="en-US" sz="2999" spc="179">
                <a:solidFill>
                  <a:srgbClr val="000000"/>
                </a:solidFill>
                <a:latin typeface="DM Sans"/>
              </a:rPr>
              <a:t>It allows for real-time updates, validation of forms, manipulation of the Document Object Model (DOM), managing events, and communicating asynchronously with the server.</a:t>
            </a:r>
          </a:p>
          <a:p>
            <a:pPr algn="just" marL="0" indent="0" lvl="0">
              <a:lnSpc>
                <a:spcPts val="404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AutoShape 3" id="3"/>
          <p:cNvSpPr/>
          <p:nvPr/>
        </p:nvSpPr>
        <p:spPr>
          <a:xfrm>
            <a:off x="-886757" y="5074942"/>
            <a:ext cx="20061513" cy="0"/>
          </a:xfrm>
          <a:prstGeom prst="line">
            <a:avLst/>
          </a:prstGeom>
          <a:ln cap="flat" w="28575">
            <a:solidFill>
              <a:srgbClr val="000000"/>
            </a:solidFill>
            <a:prstDash val="solid"/>
            <a:headEnd type="none" len="sm" w="sm"/>
            <a:tailEnd type="none" len="sm" w="sm"/>
          </a:ln>
        </p:spPr>
      </p:sp>
      <p:grpSp>
        <p:nvGrpSpPr>
          <p:cNvPr name="Group 4" id="4"/>
          <p:cNvGrpSpPr/>
          <p:nvPr/>
        </p:nvGrpSpPr>
        <p:grpSpPr>
          <a:xfrm rot="0">
            <a:off x="5930165" y="4823914"/>
            <a:ext cx="502056" cy="502056"/>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name="TextBox 6" id="6"/>
            <p:cNvSpPr txBox="true"/>
            <p:nvPr/>
          </p:nvSpPr>
          <p:spPr>
            <a:xfrm>
              <a:off x="190500" y="219075"/>
              <a:ext cx="431800" cy="403225"/>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7" id="7"/>
          <p:cNvGrpSpPr/>
          <p:nvPr/>
        </p:nvGrpSpPr>
        <p:grpSpPr>
          <a:xfrm rot="0">
            <a:off x="2227066" y="4823914"/>
            <a:ext cx="502056" cy="50205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p:spPr>
        </p:sp>
        <p:sp>
          <p:nvSpPr>
            <p:cNvPr name="TextBox 9" id="9"/>
            <p:cNvSpPr txBox="true"/>
            <p:nvPr/>
          </p:nvSpPr>
          <p:spPr>
            <a:xfrm>
              <a:off x="190500" y="219075"/>
              <a:ext cx="431800" cy="403225"/>
            </a:xfrm>
            <a:prstGeom prst="rect">
              <a:avLst/>
            </a:prstGeom>
          </p:spPr>
          <p:txBody>
            <a:bodyPr anchor="ctr" rtlCol="false" tIns="50800" lIns="50800" bIns="50800" rIns="50800"/>
            <a:lstStyle/>
            <a:p>
              <a:pPr algn="ctr">
                <a:lnSpc>
                  <a:spcPts val="2266"/>
                </a:lnSpc>
              </a:pPr>
            </a:p>
          </p:txBody>
        </p:sp>
      </p:grpSp>
      <p:grpSp>
        <p:nvGrpSpPr>
          <p:cNvPr name="Group 10" id="10"/>
          <p:cNvGrpSpPr/>
          <p:nvPr/>
        </p:nvGrpSpPr>
        <p:grpSpPr>
          <a:xfrm rot="0">
            <a:off x="9653627" y="4823914"/>
            <a:ext cx="502056" cy="50205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name="TextBox 12" id="12"/>
            <p:cNvSpPr txBox="true"/>
            <p:nvPr/>
          </p:nvSpPr>
          <p:spPr>
            <a:xfrm>
              <a:off x="190500" y="219075"/>
              <a:ext cx="431800" cy="403225"/>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13" id="13"/>
          <p:cNvGrpSpPr/>
          <p:nvPr/>
        </p:nvGrpSpPr>
        <p:grpSpPr>
          <a:xfrm rot="0">
            <a:off x="13396139" y="4823914"/>
            <a:ext cx="502056" cy="50205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name="TextBox 15" id="15"/>
            <p:cNvSpPr txBox="true"/>
            <p:nvPr/>
          </p:nvSpPr>
          <p:spPr>
            <a:xfrm>
              <a:off x="190500" y="219075"/>
              <a:ext cx="431800" cy="403225"/>
            </a:xfrm>
            <a:prstGeom prst="rect">
              <a:avLst/>
            </a:prstGeom>
          </p:spPr>
          <p:txBody>
            <a:bodyPr anchor="ctr" rtlCol="false" tIns="50800" lIns="50800" bIns="50800" rIns="50800"/>
            <a:lstStyle/>
            <a:p>
              <a:pPr algn="ctr" marL="0" indent="0" lvl="0">
                <a:lnSpc>
                  <a:spcPts val="2266"/>
                </a:lnSpc>
                <a:spcBef>
                  <a:spcPct val="0"/>
                </a:spcBef>
              </a:pPr>
            </a:p>
          </p:txBody>
        </p:sp>
      </p:grpSp>
      <p:sp>
        <p:nvSpPr>
          <p:cNvPr name="TextBox 16" id="16"/>
          <p:cNvSpPr txBox="true"/>
          <p:nvPr/>
        </p:nvSpPr>
        <p:spPr>
          <a:xfrm rot="0">
            <a:off x="4732501" y="2459889"/>
            <a:ext cx="10005186" cy="1177290"/>
          </a:xfrm>
          <a:prstGeom prst="rect">
            <a:avLst/>
          </a:prstGeom>
        </p:spPr>
        <p:txBody>
          <a:bodyPr anchor="t" rtlCol="false" tIns="0" lIns="0" bIns="0" rIns="0">
            <a:spAutoFit/>
          </a:bodyPr>
          <a:lstStyle/>
          <a:p>
            <a:pPr algn="ctr" marL="0" indent="0" lvl="1">
              <a:lnSpc>
                <a:spcPts val="8730"/>
              </a:lnSpc>
              <a:spcBef>
                <a:spcPct val="0"/>
              </a:spcBef>
            </a:pPr>
            <a:r>
              <a:rPr lang="en-US" sz="9000">
                <a:solidFill>
                  <a:srgbClr val="000000"/>
                </a:solidFill>
                <a:latin typeface="DM Sans Bold"/>
              </a:rPr>
              <a:t>IMPLEMENTATION</a:t>
            </a:r>
          </a:p>
        </p:txBody>
      </p:sp>
      <p:sp>
        <p:nvSpPr>
          <p:cNvPr name="TextBox 17" id="17"/>
          <p:cNvSpPr txBox="true"/>
          <p:nvPr/>
        </p:nvSpPr>
        <p:spPr>
          <a:xfrm rot="0">
            <a:off x="1028700" y="5596991"/>
            <a:ext cx="3395690" cy="543561"/>
          </a:xfrm>
          <a:prstGeom prst="rect">
            <a:avLst/>
          </a:prstGeom>
        </p:spPr>
        <p:txBody>
          <a:bodyPr anchor="t" rtlCol="false" tIns="0" lIns="0" bIns="0" rIns="0">
            <a:spAutoFit/>
          </a:bodyPr>
          <a:lstStyle/>
          <a:p>
            <a:pPr>
              <a:lnSpc>
                <a:spcPts val="4120"/>
              </a:lnSpc>
            </a:pPr>
            <a:r>
              <a:rPr lang="en-US" sz="4000">
                <a:solidFill>
                  <a:srgbClr val="000000"/>
                </a:solidFill>
                <a:latin typeface="DM Sans Bold"/>
              </a:rPr>
              <a:t>01. HOMPAGE</a:t>
            </a:r>
          </a:p>
        </p:txBody>
      </p:sp>
      <p:sp>
        <p:nvSpPr>
          <p:cNvPr name="TextBox 18" id="18"/>
          <p:cNvSpPr txBox="true"/>
          <p:nvPr/>
        </p:nvSpPr>
        <p:spPr>
          <a:xfrm rot="0">
            <a:off x="5519302" y="5596991"/>
            <a:ext cx="2823373" cy="1057911"/>
          </a:xfrm>
          <a:prstGeom prst="rect">
            <a:avLst/>
          </a:prstGeom>
        </p:spPr>
        <p:txBody>
          <a:bodyPr anchor="t" rtlCol="false" tIns="0" lIns="0" bIns="0" rIns="0">
            <a:spAutoFit/>
          </a:bodyPr>
          <a:lstStyle/>
          <a:p>
            <a:pPr>
              <a:lnSpc>
                <a:spcPts val="4120"/>
              </a:lnSpc>
            </a:pPr>
            <a:r>
              <a:rPr lang="en-US" sz="4000">
                <a:solidFill>
                  <a:srgbClr val="000000"/>
                </a:solidFill>
                <a:latin typeface="DM Sans Bold"/>
              </a:rPr>
              <a:t>02. MENU LISTING</a:t>
            </a:r>
          </a:p>
        </p:txBody>
      </p:sp>
      <p:sp>
        <p:nvSpPr>
          <p:cNvPr name="TextBox 19" id="19"/>
          <p:cNvSpPr txBox="true"/>
          <p:nvPr/>
        </p:nvSpPr>
        <p:spPr>
          <a:xfrm rot="0">
            <a:off x="9144000" y="5596991"/>
            <a:ext cx="4103436" cy="1057911"/>
          </a:xfrm>
          <a:prstGeom prst="rect">
            <a:avLst/>
          </a:prstGeom>
        </p:spPr>
        <p:txBody>
          <a:bodyPr anchor="t" rtlCol="false" tIns="0" lIns="0" bIns="0" rIns="0">
            <a:spAutoFit/>
          </a:bodyPr>
          <a:lstStyle/>
          <a:p>
            <a:pPr>
              <a:lnSpc>
                <a:spcPts val="4120"/>
              </a:lnSpc>
            </a:pPr>
            <a:r>
              <a:rPr lang="en-US" sz="4000">
                <a:solidFill>
                  <a:srgbClr val="000000"/>
                </a:solidFill>
                <a:latin typeface="DM Sans Bold"/>
              </a:rPr>
              <a:t>03. CHECKOUT PROCESS</a:t>
            </a:r>
          </a:p>
        </p:txBody>
      </p:sp>
      <p:sp>
        <p:nvSpPr>
          <p:cNvPr name="TextBox 20" id="20"/>
          <p:cNvSpPr txBox="true"/>
          <p:nvPr/>
        </p:nvSpPr>
        <p:spPr>
          <a:xfrm rot="0">
            <a:off x="13414442" y="5596991"/>
            <a:ext cx="2846686" cy="1057911"/>
          </a:xfrm>
          <a:prstGeom prst="rect">
            <a:avLst/>
          </a:prstGeom>
        </p:spPr>
        <p:txBody>
          <a:bodyPr anchor="t" rtlCol="false" tIns="0" lIns="0" bIns="0" rIns="0">
            <a:spAutoFit/>
          </a:bodyPr>
          <a:lstStyle/>
          <a:p>
            <a:pPr>
              <a:lnSpc>
                <a:spcPts val="4120"/>
              </a:lnSpc>
            </a:pPr>
            <a:r>
              <a:rPr lang="en-US" sz="4000">
                <a:solidFill>
                  <a:srgbClr val="000000"/>
                </a:solidFill>
                <a:latin typeface="DM Sans Bold"/>
              </a:rPr>
              <a:t>04. ORDER TRACKING </a:t>
            </a:r>
          </a:p>
        </p:txBody>
      </p:sp>
      <p:sp>
        <p:nvSpPr>
          <p:cNvPr name="Freeform 21" id="21"/>
          <p:cNvSpPr/>
          <p:nvPr/>
        </p:nvSpPr>
        <p:spPr>
          <a:xfrm flipH="false" flipV="false" rot="0">
            <a:off x="-1573240" y="8893298"/>
            <a:ext cx="4051334" cy="2765036"/>
          </a:xfrm>
          <a:custGeom>
            <a:avLst/>
            <a:gdLst/>
            <a:ahLst/>
            <a:cxnLst/>
            <a:rect r="r" b="b" t="t" l="l"/>
            <a:pathLst>
              <a:path h="2765036" w="4051334">
                <a:moveTo>
                  <a:pt x="0" y="0"/>
                </a:moveTo>
                <a:lnTo>
                  <a:pt x="4051334" y="0"/>
                </a:lnTo>
                <a:lnTo>
                  <a:pt x="4051334" y="2765036"/>
                </a:lnTo>
                <a:lnTo>
                  <a:pt x="0" y="27650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2" id="22"/>
          <p:cNvSpPr/>
          <p:nvPr/>
        </p:nvSpPr>
        <p:spPr>
          <a:xfrm flipH="false" flipV="false" rot="0">
            <a:off x="15262955" y="8864586"/>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23" id="23"/>
          <p:cNvSpPr/>
          <p:nvPr/>
        </p:nvSpPr>
        <p:spPr>
          <a:xfrm flipH="false" flipV="false" rot="0">
            <a:off x="-674156" y="-1322787"/>
            <a:ext cx="4224468" cy="2645573"/>
          </a:xfrm>
          <a:custGeom>
            <a:avLst/>
            <a:gdLst/>
            <a:ahLst/>
            <a:cxnLst/>
            <a:rect r="r" b="b" t="t" l="l"/>
            <a:pathLst>
              <a:path h="2645573" w="4224468">
                <a:moveTo>
                  <a:pt x="0" y="0"/>
                </a:moveTo>
                <a:lnTo>
                  <a:pt x="4224468" y="0"/>
                </a:lnTo>
                <a:lnTo>
                  <a:pt x="4224468" y="2645574"/>
                </a:lnTo>
                <a:lnTo>
                  <a:pt x="0" y="26455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4" id="24"/>
          <p:cNvSpPr/>
          <p:nvPr/>
        </p:nvSpPr>
        <p:spPr>
          <a:xfrm flipH="false" flipV="false" rot="0">
            <a:off x="11101574"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25" id="25"/>
          <p:cNvSpPr/>
          <p:nvPr/>
        </p:nvSpPr>
        <p:spPr>
          <a:xfrm flipH="false" flipV="false" rot="0">
            <a:off x="9653627" y="-3037933"/>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26" id="26"/>
          <p:cNvSpPr/>
          <p:nvPr/>
        </p:nvSpPr>
        <p:spPr>
          <a:xfrm flipH="false" flipV="false" rot="-5400000">
            <a:off x="4745771" y="-1877331"/>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27" id="27"/>
          <p:cNvSpPr/>
          <p:nvPr/>
        </p:nvSpPr>
        <p:spPr>
          <a:xfrm flipH="false" flipV="false" rot="0">
            <a:off x="2932282" y="9271808"/>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28" id="28"/>
          <p:cNvSpPr/>
          <p:nvPr/>
        </p:nvSpPr>
        <p:spPr>
          <a:xfrm flipH="false" flipV="false" rot="0">
            <a:off x="15262955" y="-1072630"/>
            <a:ext cx="1996345" cy="2149497"/>
          </a:xfrm>
          <a:custGeom>
            <a:avLst/>
            <a:gdLst/>
            <a:ahLst/>
            <a:cxnLst/>
            <a:rect r="r" b="b" t="t" l="l"/>
            <a:pathLst>
              <a:path h="2149497" w="1996345">
                <a:moveTo>
                  <a:pt x="0" y="0"/>
                </a:moveTo>
                <a:lnTo>
                  <a:pt x="1996345" y="0"/>
                </a:lnTo>
                <a:lnTo>
                  <a:pt x="1996345" y="2149497"/>
                </a:lnTo>
                <a:lnTo>
                  <a:pt x="0" y="2149497"/>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TextBox 3" id="3"/>
          <p:cNvSpPr txBox="true"/>
          <p:nvPr/>
        </p:nvSpPr>
        <p:spPr>
          <a:xfrm rot="0">
            <a:off x="4221977" y="852085"/>
            <a:ext cx="10014901" cy="909320"/>
          </a:xfrm>
          <a:prstGeom prst="rect">
            <a:avLst/>
          </a:prstGeom>
        </p:spPr>
        <p:txBody>
          <a:bodyPr anchor="t" rtlCol="false" tIns="0" lIns="0" bIns="0" rIns="0">
            <a:spAutoFit/>
          </a:bodyPr>
          <a:lstStyle/>
          <a:p>
            <a:pPr algn="ctr">
              <a:lnSpc>
                <a:spcPts val="6789"/>
              </a:lnSpc>
            </a:pPr>
            <a:r>
              <a:rPr lang="en-US" sz="6999">
                <a:solidFill>
                  <a:srgbClr val="000000"/>
                </a:solidFill>
                <a:latin typeface="DM Sans Bold"/>
              </a:rPr>
              <a:t>Homepage</a:t>
            </a:r>
          </a:p>
        </p:txBody>
      </p:sp>
      <p:sp>
        <p:nvSpPr>
          <p:cNvPr name="TextBox 4" id="4"/>
          <p:cNvSpPr txBox="true"/>
          <p:nvPr/>
        </p:nvSpPr>
        <p:spPr>
          <a:xfrm rot="0">
            <a:off x="1514303" y="1988404"/>
            <a:ext cx="14494772" cy="2671763"/>
          </a:xfrm>
          <a:prstGeom prst="rect">
            <a:avLst/>
          </a:prstGeom>
        </p:spPr>
        <p:txBody>
          <a:bodyPr anchor="t" rtlCol="false" tIns="0" lIns="0" bIns="0" rIns="0">
            <a:spAutoFit/>
          </a:bodyPr>
          <a:lstStyle/>
          <a:p>
            <a:pPr algn="ctr">
              <a:lnSpc>
                <a:spcPts val="3374"/>
              </a:lnSpc>
            </a:pPr>
            <a:r>
              <a:rPr lang="en-US" sz="2499" spc="149">
                <a:solidFill>
                  <a:srgbClr val="000000"/>
                </a:solidFill>
                <a:latin typeface="DM Sans"/>
              </a:rPr>
              <a:t>The homepage of the website has a banner image that shows the cozy atmosphere of a café. It has a search bar for users to easily find specific cafes or menu items. Featured café listings are shown, along with links to popular sections like restaurant listings, menu display, and order tracking.</a:t>
            </a:r>
          </a:p>
          <a:p>
            <a:pPr algn="ctr">
              <a:lnSpc>
                <a:spcPts val="4049"/>
              </a:lnSpc>
            </a:pPr>
          </a:p>
          <a:p>
            <a:pPr algn="ctr" marL="0" indent="0" lvl="0">
              <a:lnSpc>
                <a:spcPts val="4049"/>
              </a:lnSpc>
              <a:spcBef>
                <a:spcPct val="0"/>
              </a:spcBef>
            </a:pPr>
          </a:p>
        </p:txBody>
      </p:sp>
      <p:sp>
        <p:nvSpPr>
          <p:cNvPr name="Freeform 5" id="5"/>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8" id="8"/>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9" id="9"/>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10" id="10"/>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11" id="11"/>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2" id="12"/>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3" id="13"/>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14" id="14"/>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15" id="15"/>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16" id="16"/>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a:ln cap="sq">
            <a:noFill/>
            <a:prstDash val="solid"/>
            <a:miter/>
          </a:ln>
        </p:spPr>
      </p:sp>
      <p:sp>
        <p:nvSpPr>
          <p:cNvPr name="Freeform 17" id="17"/>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a:ln cap="sq">
            <a:noFill/>
            <a:prstDash val="solid"/>
            <a:miter/>
          </a:ln>
        </p:spPr>
      </p:sp>
      <p:sp>
        <p:nvSpPr>
          <p:cNvPr name="Freeform 18" id="18"/>
          <p:cNvSpPr/>
          <p:nvPr/>
        </p:nvSpPr>
        <p:spPr>
          <a:xfrm flipH="false" flipV="false" rot="0">
            <a:off x="2916972" y="4198991"/>
            <a:ext cx="12084901" cy="5683382"/>
          </a:xfrm>
          <a:custGeom>
            <a:avLst/>
            <a:gdLst/>
            <a:ahLst/>
            <a:cxnLst/>
            <a:rect r="r" b="b" t="t" l="l"/>
            <a:pathLst>
              <a:path h="5683382" w="12084901">
                <a:moveTo>
                  <a:pt x="0" y="0"/>
                </a:moveTo>
                <a:lnTo>
                  <a:pt x="12084900" y="0"/>
                </a:lnTo>
                <a:lnTo>
                  <a:pt x="12084900" y="5683383"/>
                </a:lnTo>
                <a:lnTo>
                  <a:pt x="0" y="5683383"/>
                </a:lnTo>
                <a:lnTo>
                  <a:pt x="0" y="0"/>
                </a:lnTo>
                <a:close/>
              </a:path>
            </a:pathLst>
          </a:custGeom>
          <a:blipFill>
            <a:blip r:embed="rId29"/>
            <a:stretch>
              <a:fillRect l="0" t="-1575" r="0" b="-1575"/>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TextBox 3" id="3"/>
          <p:cNvSpPr txBox="true"/>
          <p:nvPr/>
        </p:nvSpPr>
        <p:spPr>
          <a:xfrm rot="0">
            <a:off x="3864059" y="1181100"/>
            <a:ext cx="10014901" cy="909320"/>
          </a:xfrm>
          <a:prstGeom prst="rect">
            <a:avLst/>
          </a:prstGeom>
        </p:spPr>
        <p:txBody>
          <a:bodyPr anchor="t" rtlCol="false" tIns="0" lIns="0" bIns="0" rIns="0">
            <a:spAutoFit/>
          </a:bodyPr>
          <a:lstStyle/>
          <a:p>
            <a:pPr algn="ctr">
              <a:lnSpc>
                <a:spcPts val="6789"/>
              </a:lnSpc>
            </a:pPr>
            <a:r>
              <a:rPr lang="en-US" sz="6999">
                <a:solidFill>
                  <a:srgbClr val="000000"/>
                </a:solidFill>
                <a:latin typeface="DM Sans Bold"/>
              </a:rPr>
              <a:t>Menu Listing</a:t>
            </a:r>
          </a:p>
        </p:txBody>
      </p:sp>
      <p:sp>
        <p:nvSpPr>
          <p:cNvPr name="Freeform 4" id="4"/>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7" id="7"/>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8" id="8"/>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10" id="10"/>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1" id="11"/>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2" id="12"/>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13" id="13"/>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14" id="14"/>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15" id="15"/>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a:ln cap="sq">
            <a:noFill/>
            <a:prstDash val="solid"/>
            <a:miter/>
          </a:ln>
        </p:spPr>
      </p:sp>
      <p:sp>
        <p:nvSpPr>
          <p:cNvPr name="Freeform 16" id="16"/>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a:ln cap="sq">
            <a:noFill/>
            <a:prstDash val="solid"/>
            <a:miter/>
          </a:ln>
        </p:spPr>
      </p:sp>
      <p:sp>
        <p:nvSpPr>
          <p:cNvPr name="Freeform 17" id="17"/>
          <p:cNvSpPr/>
          <p:nvPr/>
        </p:nvSpPr>
        <p:spPr>
          <a:xfrm flipH="false" flipV="false" rot="0">
            <a:off x="3286128" y="4158800"/>
            <a:ext cx="11715744" cy="5845409"/>
          </a:xfrm>
          <a:custGeom>
            <a:avLst/>
            <a:gdLst/>
            <a:ahLst/>
            <a:cxnLst/>
            <a:rect r="r" b="b" t="t" l="l"/>
            <a:pathLst>
              <a:path h="5845409" w="11715744">
                <a:moveTo>
                  <a:pt x="0" y="0"/>
                </a:moveTo>
                <a:lnTo>
                  <a:pt x="11715744" y="0"/>
                </a:lnTo>
                <a:lnTo>
                  <a:pt x="11715744" y="5845409"/>
                </a:lnTo>
                <a:lnTo>
                  <a:pt x="0" y="5845409"/>
                </a:lnTo>
                <a:lnTo>
                  <a:pt x="0" y="0"/>
                </a:lnTo>
                <a:close/>
              </a:path>
            </a:pathLst>
          </a:custGeom>
          <a:blipFill>
            <a:blip r:embed="rId29"/>
            <a:stretch>
              <a:fillRect l="0" t="0" r="0" b="0"/>
            </a:stretch>
          </a:blipFill>
        </p:spPr>
      </p:sp>
      <p:sp>
        <p:nvSpPr>
          <p:cNvPr name="TextBox 18" id="18"/>
          <p:cNvSpPr txBox="true"/>
          <p:nvPr/>
        </p:nvSpPr>
        <p:spPr>
          <a:xfrm rot="0">
            <a:off x="3949487" y="2332930"/>
            <a:ext cx="9844046" cy="1630680"/>
          </a:xfrm>
          <a:prstGeom prst="rect">
            <a:avLst/>
          </a:prstGeom>
        </p:spPr>
        <p:txBody>
          <a:bodyPr anchor="t" rtlCol="false" tIns="0" lIns="0" bIns="0" rIns="0">
            <a:spAutoFit/>
          </a:bodyPr>
          <a:lstStyle/>
          <a:p>
            <a:pPr algn="ctr" marL="0" indent="0" lvl="0">
              <a:lnSpc>
                <a:spcPts val="3239"/>
              </a:lnSpc>
              <a:spcBef>
                <a:spcPct val="0"/>
              </a:spcBef>
            </a:pPr>
            <a:r>
              <a:rPr lang="en-US" sz="2399" spc="143">
                <a:solidFill>
                  <a:srgbClr val="000000"/>
                </a:solidFill>
                <a:latin typeface="DM Sans"/>
              </a:rPr>
              <a:t>The menu display page shows the different food and drink options available at a specific café. The items are grouped into categories like drinks, dessert, and dishes. Each item on the menu has a description, price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7" id="7"/>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9" id="9"/>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0" id="10"/>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1" id="11"/>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12" id="12"/>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13" id="13"/>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14" id="14"/>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a:ln cap="sq">
            <a:noFill/>
            <a:prstDash val="solid"/>
            <a:miter/>
          </a:ln>
        </p:spPr>
      </p:sp>
      <p:sp>
        <p:nvSpPr>
          <p:cNvPr name="Freeform 15" id="15"/>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a:ln cap="sq">
            <a:noFill/>
            <a:prstDash val="solid"/>
            <a:miter/>
          </a:ln>
        </p:spPr>
      </p:sp>
      <p:sp>
        <p:nvSpPr>
          <p:cNvPr name="Freeform 16" id="16"/>
          <p:cNvSpPr/>
          <p:nvPr/>
        </p:nvSpPr>
        <p:spPr>
          <a:xfrm flipH="false" flipV="false" rot="0">
            <a:off x="3232001" y="3613204"/>
            <a:ext cx="11715744" cy="6269170"/>
          </a:xfrm>
          <a:custGeom>
            <a:avLst/>
            <a:gdLst/>
            <a:ahLst/>
            <a:cxnLst/>
            <a:rect r="r" b="b" t="t" l="l"/>
            <a:pathLst>
              <a:path h="6269170" w="11715744">
                <a:moveTo>
                  <a:pt x="0" y="0"/>
                </a:moveTo>
                <a:lnTo>
                  <a:pt x="11715744" y="0"/>
                </a:lnTo>
                <a:lnTo>
                  <a:pt x="11715744" y="6269170"/>
                </a:lnTo>
                <a:lnTo>
                  <a:pt x="0" y="6269170"/>
                </a:lnTo>
                <a:lnTo>
                  <a:pt x="0" y="0"/>
                </a:lnTo>
                <a:close/>
              </a:path>
            </a:pathLst>
          </a:custGeom>
          <a:blipFill>
            <a:blip r:embed="rId29"/>
            <a:stretch>
              <a:fillRect l="0" t="0" r="0" b="0"/>
            </a:stretch>
          </a:blipFill>
        </p:spPr>
      </p:sp>
      <p:sp>
        <p:nvSpPr>
          <p:cNvPr name="TextBox 17" id="17"/>
          <p:cNvSpPr txBox="true"/>
          <p:nvPr/>
        </p:nvSpPr>
        <p:spPr>
          <a:xfrm rot="0">
            <a:off x="4200304" y="852085"/>
            <a:ext cx="10014901" cy="909320"/>
          </a:xfrm>
          <a:prstGeom prst="rect">
            <a:avLst/>
          </a:prstGeom>
        </p:spPr>
        <p:txBody>
          <a:bodyPr anchor="t" rtlCol="false" tIns="0" lIns="0" bIns="0" rIns="0">
            <a:spAutoFit/>
          </a:bodyPr>
          <a:lstStyle/>
          <a:p>
            <a:pPr algn="ctr">
              <a:lnSpc>
                <a:spcPts val="6789"/>
              </a:lnSpc>
            </a:pPr>
            <a:r>
              <a:rPr lang="en-US" sz="6999">
                <a:solidFill>
                  <a:srgbClr val="000000"/>
                </a:solidFill>
                <a:latin typeface="DM Sans Bold"/>
              </a:rPr>
              <a:t>Checkout process</a:t>
            </a:r>
          </a:p>
        </p:txBody>
      </p:sp>
      <p:sp>
        <p:nvSpPr>
          <p:cNvPr name="TextBox 18" id="18"/>
          <p:cNvSpPr txBox="true"/>
          <p:nvPr/>
        </p:nvSpPr>
        <p:spPr>
          <a:xfrm rot="0">
            <a:off x="2043902" y="1922360"/>
            <a:ext cx="14200197" cy="1666875"/>
          </a:xfrm>
          <a:prstGeom prst="rect">
            <a:avLst/>
          </a:prstGeom>
        </p:spPr>
        <p:txBody>
          <a:bodyPr anchor="t" rtlCol="false" tIns="0" lIns="0" bIns="0" rIns="0">
            <a:spAutoFit/>
          </a:bodyPr>
          <a:lstStyle/>
          <a:p>
            <a:pPr algn="ctr" marL="0" indent="0" lvl="0">
              <a:lnSpc>
                <a:spcPts val="3374"/>
              </a:lnSpc>
              <a:spcBef>
                <a:spcPct val="0"/>
              </a:spcBef>
            </a:pPr>
            <a:r>
              <a:rPr lang="en-US" sz="2499" spc="149">
                <a:solidFill>
                  <a:srgbClr val="000000"/>
                </a:solidFill>
                <a:latin typeface="DM Sans"/>
              </a:rPr>
              <a:t>The checkout process is a series of steps that help users select items, customize preferences, enter delivery details, and make payment. Progress indicators and clear instructions make it easier for users to complete their orders smoothly and efficiently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7" id="7"/>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9" id="9"/>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0" id="10"/>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1" id="11"/>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12" id="12"/>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13" id="13"/>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14" id="14"/>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a:ln cap="sq">
            <a:noFill/>
            <a:prstDash val="solid"/>
            <a:miter/>
          </a:ln>
        </p:spPr>
      </p:sp>
      <p:sp>
        <p:nvSpPr>
          <p:cNvPr name="Freeform 15" id="15"/>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a:ln cap="sq">
            <a:noFill/>
            <a:prstDash val="solid"/>
            <a:miter/>
          </a:ln>
        </p:spPr>
      </p:sp>
      <p:sp>
        <p:nvSpPr>
          <p:cNvPr name="Freeform 16" id="16"/>
          <p:cNvSpPr/>
          <p:nvPr/>
        </p:nvSpPr>
        <p:spPr>
          <a:xfrm flipH="false" flipV="false" rot="0">
            <a:off x="3529939" y="4473125"/>
            <a:ext cx="11715744" cy="5783091"/>
          </a:xfrm>
          <a:custGeom>
            <a:avLst/>
            <a:gdLst/>
            <a:ahLst/>
            <a:cxnLst/>
            <a:rect r="r" b="b" t="t" l="l"/>
            <a:pathLst>
              <a:path h="5783091" w="11715744">
                <a:moveTo>
                  <a:pt x="0" y="0"/>
                </a:moveTo>
                <a:lnTo>
                  <a:pt x="11715744" y="0"/>
                </a:lnTo>
                <a:lnTo>
                  <a:pt x="11715744" y="5783091"/>
                </a:lnTo>
                <a:lnTo>
                  <a:pt x="0" y="5783091"/>
                </a:lnTo>
                <a:lnTo>
                  <a:pt x="0" y="0"/>
                </a:lnTo>
                <a:close/>
              </a:path>
            </a:pathLst>
          </a:custGeom>
          <a:blipFill>
            <a:blip r:embed="rId29"/>
            <a:stretch>
              <a:fillRect l="0" t="0" r="0" b="0"/>
            </a:stretch>
          </a:blipFill>
        </p:spPr>
      </p:sp>
      <p:sp>
        <p:nvSpPr>
          <p:cNvPr name="TextBox 17" id="17"/>
          <p:cNvSpPr txBox="true"/>
          <p:nvPr/>
        </p:nvSpPr>
        <p:spPr>
          <a:xfrm rot="0">
            <a:off x="4136549" y="1461710"/>
            <a:ext cx="10014901" cy="909320"/>
          </a:xfrm>
          <a:prstGeom prst="rect">
            <a:avLst/>
          </a:prstGeom>
        </p:spPr>
        <p:txBody>
          <a:bodyPr anchor="t" rtlCol="false" tIns="0" lIns="0" bIns="0" rIns="0">
            <a:spAutoFit/>
          </a:bodyPr>
          <a:lstStyle/>
          <a:p>
            <a:pPr algn="ctr">
              <a:lnSpc>
                <a:spcPts val="6789"/>
              </a:lnSpc>
            </a:pPr>
            <a:r>
              <a:rPr lang="en-US" sz="6999">
                <a:solidFill>
                  <a:srgbClr val="000000"/>
                </a:solidFill>
                <a:latin typeface="DM Sans Bold"/>
              </a:rPr>
              <a:t>Order Tracking</a:t>
            </a:r>
          </a:p>
        </p:txBody>
      </p:sp>
      <p:sp>
        <p:nvSpPr>
          <p:cNvPr name="TextBox 18" id="18"/>
          <p:cNvSpPr txBox="true"/>
          <p:nvPr/>
        </p:nvSpPr>
        <p:spPr>
          <a:xfrm rot="0">
            <a:off x="3062994" y="2332930"/>
            <a:ext cx="12895737" cy="2085975"/>
          </a:xfrm>
          <a:prstGeom prst="rect">
            <a:avLst/>
          </a:prstGeom>
        </p:spPr>
        <p:txBody>
          <a:bodyPr anchor="t" rtlCol="false" tIns="0" lIns="0" bIns="0" rIns="0">
            <a:spAutoFit/>
          </a:bodyPr>
          <a:lstStyle/>
          <a:p>
            <a:pPr algn="ctr">
              <a:lnSpc>
                <a:spcPts val="3374"/>
              </a:lnSpc>
            </a:pPr>
            <a:r>
              <a:rPr lang="en-US" sz="2499" spc="149">
                <a:solidFill>
                  <a:srgbClr val="000000"/>
                </a:solidFill>
                <a:latin typeface="DM Sans"/>
              </a:rPr>
              <a:t>The order tracking page enables users to keep an eye on the progress of their orders in real-time. Information is continuously updated, starting from order confirmation, through preparation, and all the way to delivery, ensuring that users are kept informed at every step of the process.</a:t>
            </a:r>
          </a:p>
          <a:p>
            <a:pPr algn="ctr" marL="0" indent="0" lvl="0">
              <a:lnSpc>
                <a:spcPts val="3374"/>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TextBox 3" id="3"/>
          <p:cNvSpPr txBox="true"/>
          <p:nvPr/>
        </p:nvSpPr>
        <p:spPr>
          <a:xfrm rot="0">
            <a:off x="4136549" y="3464697"/>
            <a:ext cx="10014901" cy="909320"/>
          </a:xfrm>
          <a:prstGeom prst="rect">
            <a:avLst/>
          </a:prstGeom>
        </p:spPr>
        <p:txBody>
          <a:bodyPr anchor="t" rtlCol="false" tIns="0" lIns="0" bIns="0" rIns="0">
            <a:spAutoFit/>
          </a:bodyPr>
          <a:lstStyle/>
          <a:p>
            <a:pPr algn="ctr">
              <a:lnSpc>
                <a:spcPts val="6789"/>
              </a:lnSpc>
            </a:pPr>
            <a:r>
              <a:rPr lang="en-US" sz="6999">
                <a:solidFill>
                  <a:srgbClr val="000000"/>
                </a:solidFill>
                <a:latin typeface="DM Sans Bold"/>
              </a:rPr>
              <a:t>Conclusion</a:t>
            </a:r>
          </a:p>
        </p:txBody>
      </p:sp>
      <p:sp>
        <p:nvSpPr>
          <p:cNvPr name="TextBox 4" id="4"/>
          <p:cNvSpPr txBox="true"/>
          <p:nvPr/>
        </p:nvSpPr>
        <p:spPr>
          <a:xfrm rot="0">
            <a:off x="4221977" y="4771123"/>
            <a:ext cx="9844046" cy="2924175"/>
          </a:xfrm>
          <a:prstGeom prst="rect">
            <a:avLst/>
          </a:prstGeom>
        </p:spPr>
        <p:txBody>
          <a:bodyPr anchor="t" rtlCol="false" tIns="0" lIns="0" bIns="0" rIns="0">
            <a:spAutoFit/>
          </a:bodyPr>
          <a:lstStyle/>
          <a:p>
            <a:pPr algn="ctr" marL="0" indent="0" lvl="0">
              <a:lnSpc>
                <a:spcPts val="3374"/>
              </a:lnSpc>
              <a:spcBef>
                <a:spcPct val="0"/>
              </a:spcBef>
            </a:pPr>
            <a:r>
              <a:rPr lang="en-US" sz="2499" spc="149">
                <a:solidFill>
                  <a:srgbClr val="000000"/>
                </a:solidFill>
                <a:latin typeface="DM Sans"/>
              </a:rPr>
              <a:t>In conclusion, Cafe Dash represents a major improvement in the way food can be ordered online and how cafes can be managed. It provides a smooth and pleasant experience for both customers and cafe owners. The platform has been carefully developed through detailed research and creative design, with a focus on making it easy to use, convenient, and reliable</a:t>
            </a:r>
          </a:p>
        </p:txBody>
      </p:sp>
      <p:sp>
        <p:nvSpPr>
          <p:cNvPr name="Freeform 5" id="5"/>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8" id="8"/>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9" id="9"/>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10" id="10"/>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11" id="11"/>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2" id="12"/>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3" id="13"/>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14" id="14"/>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15" id="15"/>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16" id="16"/>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a:ln cap="sq">
            <a:noFill/>
            <a:prstDash val="solid"/>
            <a:miter/>
          </a:ln>
        </p:spPr>
      </p:sp>
      <p:sp>
        <p:nvSpPr>
          <p:cNvPr name="Freeform 17" id="17"/>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a:ln cap="sq">
            <a:noFill/>
            <a:prstDash val="solid"/>
            <a:miter/>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7" id="7"/>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9" id="9"/>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0" id="10"/>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1" id="11"/>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12" id="12"/>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13" id="13"/>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14" id="14"/>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a:ln cap="sq">
            <a:noFill/>
            <a:prstDash val="solid"/>
            <a:miter/>
          </a:ln>
        </p:spPr>
      </p:sp>
      <p:sp>
        <p:nvSpPr>
          <p:cNvPr name="Freeform 15" id="15"/>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a:ln cap="sq">
            <a:noFill/>
            <a:prstDash val="solid"/>
            <a:miter/>
          </a:ln>
        </p:spPr>
      </p:sp>
      <p:sp>
        <p:nvSpPr>
          <p:cNvPr name="TextBox 16" id="16"/>
          <p:cNvSpPr txBox="true"/>
          <p:nvPr/>
        </p:nvSpPr>
        <p:spPr>
          <a:xfrm rot="0">
            <a:off x="3688802" y="3824729"/>
            <a:ext cx="10910396" cy="1754786"/>
          </a:xfrm>
          <a:prstGeom prst="rect">
            <a:avLst/>
          </a:prstGeom>
        </p:spPr>
        <p:txBody>
          <a:bodyPr anchor="t" rtlCol="false" tIns="0" lIns="0" bIns="0" rIns="0">
            <a:spAutoFit/>
          </a:bodyPr>
          <a:lstStyle/>
          <a:p>
            <a:pPr algn="ctr">
              <a:lnSpc>
                <a:spcPts val="12699"/>
              </a:lnSpc>
            </a:pPr>
            <a:r>
              <a:rPr lang="en-US" sz="14597">
                <a:solidFill>
                  <a:srgbClr val="000000"/>
                </a:solidFill>
                <a:latin typeface="DM Sans Bold"/>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DAGD3VxLhoM</dc:identifier>
  <dcterms:modified xsi:type="dcterms:W3CDTF">2011-08-01T06:04:30Z</dcterms:modified>
  <cp:revision>1</cp:revision>
  <dc:title>Blue Doodle Project Presentation</dc:title>
</cp:coreProperties>
</file>